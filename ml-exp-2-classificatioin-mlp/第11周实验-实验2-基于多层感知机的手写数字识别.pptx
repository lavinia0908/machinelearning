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537" r:id="rId5"/>
    <p:sldId id="531" r:id="rId6"/>
    <p:sldId id="539" r:id="rId7"/>
    <p:sldId id="538" r:id="rId8"/>
    <p:sldId id="540" r:id="rId9"/>
    <p:sldId id="522" r:id="rId10"/>
    <p:sldId id="532" r:id="rId11"/>
    <p:sldId id="541" r:id="rId12"/>
    <p:sldId id="542" r:id="rId13"/>
    <p:sldId id="543" r:id="rId14"/>
    <p:sldId id="544" r:id="rId15"/>
    <p:sldId id="545" r:id="rId16"/>
    <p:sldId id="550" r:id="rId17"/>
    <p:sldId id="551" r:id="rId18"/>
    <p:sldId id="552" r:id="rId19"/>
    <p:sldId id="547" r:id="rId20"/>
    <p:sldId id="548" r:id="rId21"/>
    <p:sldId id="549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2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07B9"/>
    <a:srgbClr val="4F3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67" autoAdjust="0"/>
    <p:restoredTop sz="73250" autoAdjust="0"/>
  </p:normalViewPr>
  <p:slideViewPr>
    <p:cSldViewPr showGuides="1">
      <p:cViewPr varScale="1">
        <p:scale>
          <a:sx n="79" d="100"/>
          <a:sy n="79" d="100"/>
        </p:scale>
        <p:origin x="1880" y="200"/>
      </p:cViewPr>
      <p:guideLst>
        <p:guide orient="horz" pos="2140"/>
        <p:guide pos="284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9B3A9-38F7-45CE-B594-745AE56270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D26611-436D-4C3B-B606-22CEA9914C8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462654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</a:fld>
            <a:endParaRPr lang="zh-TW" altLang="en-US"/>
          </a:p>
        </p:txBody>
      </p:sp>
      <p:grpSp>
        <p:nvGrpSpPr>
          <p:cNvPr id="2" name="Group 13"/>
          <p:cNvGrpSpPr/>
          <p:nvPr/>
        </p:nvGrpSpPr>
        <p:grpSpPr>
          <a:xfrm>
            <a:off x="0" y="1371600"/>
            <a:ext cx="9144000" cy="73152"/>
            <a:chOff x="0" y="3268345"/>
            <a:chExt cx="9144000" cy="146304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7285" y="1412777"/>
            <a:ext cx="7990656" cy="2187674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1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9144000" cy="2783160"/>
          </a:xfrm>
        </p:spPr>
        <p:txBody>
          <a:bodyPr>
            <a:normAutofit lnSpcReduction="10000"/>
          </a:bodyPr>
          <a:lstStyle/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北京航空航天大学计算机学院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School of Computer Science and Engineering, </a:t>
            </a:r>
            <a:r>
              <a:rPr lang="en-US" altLang="zh-CN" sz="2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Beihang</a:t>
            </a:r>
            <a:r>
              <a:rPr lang="en-US" altLang="zh-CN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University</a:t>
            </a:r>
            <a:endParaRPr lang="en-US" altLang="zh-CN" sz="2200" b="1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黄 迪、张永飞、陈佳鑫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2026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年春季学期</a:t>
            </a:r>
            <a:endParaRPr lang="en-US" altLang="zh-CN" sz="28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200" b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Spring 2026</a:t>
            </a:r>
            <a:endParaRPr lang="zh-CN" altLang="en-US" sz="22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70524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实验描述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5576" y="2127339"/>
            <a:ext cx="8172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手写数字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识别在票据识别、表单自动录入等领域应用广泛。传统线性分类模型难以处理复杂数字图像。多层感知机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(Multilayer Perceptron,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MLP)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通过非线性变换有效提取图像特征，可以实现更准确地图像识别。本实验基于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MNIST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数据集，使用多层感知机模型，利用反向传播算法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(Back Propagation,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BP)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进行训练，构建手写数字识别模型。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4437112"/>
            <a:ext cx="7632848" cy="23042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16" y="4435663"/>
            <a:ext cx="7632848" cy="2304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实验目的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576" y="2127339"/>
            <a:ext cx="82296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掌握多层感知机模型的原理与实践方法。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深入理解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多层感知机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的基本结构、常用激活函数、学习损失函数及其在图像分类问题中的应用。掌握基于</a:t>
            </a:r>
            <a:r>
              <a:rPr lang="en-US" altLang="zh-CN" sz="24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PyTorch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的神经网络构建、训练和推理，完成模型调参和性能分析。</a:t>
            </a:r>
            <a:endParaRPr lang="en-US" altLang="zh-CN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掌握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准确率、混淆矩阵等常用分类评价指标的含义与使用方法。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实验任务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5576" y="2132856"/>
            <a:ext cx="81724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载入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MNIST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手写数字图像数据集，进行图像预处理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构建多层感知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(MLP)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模型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 algn="just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基于小批量样本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(Mini-batch)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进行模型训练，记录每轮训练损失与准确率，并在测试集上完成模型测试</a:t>
            </a:r>
            <a:endParaRPr lang="zh-CN" altLang="en-US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输出测试集上准确率，绘制训练过程的损失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准确率曲线，生成混淆矩阵，分析模型分类表现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探索不同训练配置（如学习率、激活函数）对模型性能的影响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TW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实验环境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1302" y="2021240"/>
            <a:ext cx="8424936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编程语言：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Python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开发环境：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Jupyter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Notebook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b="0" i="0" dirty="0">
                <a:effectLst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依赖库：</a:t>
            </a:r>
            <a:r>
              <a:rPr lang="en-US" altLang="zh-CN" sz="2400" b="0" i="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24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orch、Torchvision、Sklearn、Matplotlib、Seaborn</a:t>
            </a:r>
            <a:endParaRPr lang="en-US" altLang="zh-CN" sz="2400" dirty="0" err="1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TW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实验原理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9592" y="2204864"/>
            <a:ext cx="80648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本实验基于多层感知机模型，完成手写数字识别。多层感知机由输入层、隐藏层和输出层构成，利用激活函数增强非线性表达能力，具有如下结构：</a:t>
            </a:r>
            <a:endParaRPr lang="en-US" altLang="zh-CN" sz="2400" dirty="0">
              <a:solidFill>
                <a:srgbClr val="FF0000"/>
              </a:solidFill>
              <a:highlight>
                <a:srgbClr val="FFFF00"/>
              </a:highligh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31640" y="3407042"/>
            <a:ext cx="74168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输入层：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将 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28×28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的灰度图像展平成 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784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维的特征向量，作为网络的输入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indent="457200" algn="just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隐藏层：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通过多个全连接结构与激活函数（如</a:t>
            </a:r>
            <a:r>
              <a:rPr lang="en-US" altLang="zh-CN" sz="20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ReLU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Sigmoid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激活函数）提取图像中的特征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indent="4572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输出层：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使用 </a:t>
            </a:r>
            <a:r>
              <a:rPr lang="en-US" altLang="zh-CN" sz="2000" dirty="0" err="1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Softmax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函数输出 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10 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类数字的概率分布，实现最终分类预测</a:t>
            </a:r>
            <a:endParaRPr lang="en-US" altLang="zh-CN" sz="20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indent="457200"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模型训练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：利用交叉熵损失函数，采用反向传播</a:t>
            </a:r>
            <a:r>
              <a:rPr lang="en-US" altLang="zh-CN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BP</a:t>
            </a:r>
            <a:r>
              <a:rPr lang="zh-CN" altLang="en-US" sz="20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算法优化网络参数。</a:t>
            </a:r>
            <a:endParaRPr lang="zh-CN" altLang="en-US" sz="20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7584" y="2204864"/>
            <a:ext cx="7488832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安装并导入必要依赖库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：加载数据集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MLP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模型的构建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：设置损失函数与优化器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：训练模型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：模型评估与绘图展示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：保存模型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：推理结果可视化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安装并导入必要依赖库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555" y="2996952"/>
            <a:ext cx="5782890" cy="332465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71800" y="6418863"/>
            <a:ext cx="62113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线上环境按上节课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选择正确镜像则已经成功安装</a:t>
            </a:r>
            <a:endParaRPr lang="en-US" altLang="zh-CN" sz="20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179" y="2640777"/>
            <a:ext cx="3834794" cy="332846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6" y="2713664"/>
            <a:ext cx="4425484" cy="3080818"/>
          </a:xfrm>
          <a:prstGeom prst="rect">
            <a:avLst/>
          </a:prstGeom>
        </p:spPr>
      </p:pic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：加载数据集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4473" y="5167783"/>
            <a:ext cx="4357527" cy="2900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639984" y="5439869"/>
            <a:ext cx="3847359" cy="4380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/>
          <p:cNvSpPr/>
          <p:nvPr/>
        </p:nvSpPr>
        <p:spPr>
          <a:xfrm rot="20531297">
            <a:off x="3952854" y="5878245"/>
            <a:ext cx="793398" cy="31345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8052" y="6034972"/>
            <a:ext cx="3060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000" dirty="0" err="1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num_workers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设为</a:t>
            </a:r>
            <a:r>
              <a:rPr lang="en-US" altLang="zh-CN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提速</a:t>
            </a:r>
            <a:endParaRPr lang="en-US" altLang="zh-CN" sz="20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5342" y="2686610"/>
            <a:ext cx="6059016" cy="3913528"/>
          </a:xfrm>
          <a:prstGeom prst="rect">
            <a:avLst/>
          </a:prstGeom>
        </p:spPr>
      </p:pic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MLP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模型的构建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95736" y="4435132"/>
            <a:ext cx="5264970" cy="2160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：设置损失函数与优化器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627784" y="5733256"/>
            <a:ext cx="3060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可以尝试多种类型与配置</a:t>
            </a:r>
            <a:endParaRPr lang="en-US" altLang="zh-CN" sz="20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965452"/>
            <a:ext cx="77724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481" y="2803819"/>
            <a:ext cx="7772400" cy="2978555"/>
          </a:xfrm>
          <a:prstGeom prst="rect">
            <a:avLst/>
          </a:prstGeom>
        </p:spPr>
      </p:pic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：训练模型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8885" y="3068960"/>
            <a:ext cx="1942875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71600" y="4797152"/>
            <a:ext cx="4536504" cy="11591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771800" y="3100898"/>
            <a:ext cx="3060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记录训练过程</a:t>
            </a:r>
            <a:endParaRPr lang="en-US" altLang="zh-CN" sz="20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21153" y="5158329"/>
            <a:ext cx="3060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000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梯度更新过程</a:t>
            </a:r>
            <a:endParaRPr lang="en-US" altLang="zh-CN" sz="20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13" y="2676976"/>
            <a:ext cx="5946406" cy="403363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55" y="1775011"/>
            <a:ext cx="4741529" cy="2395062"/>
          </a:xfrm>
          <a:prstGeom prst="rect">
            <a:avLst/>
          </a:prstGeom>
        </p:spPr>
      </p:pic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：训练模型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870413" y="4446416"/>
            <a:ext cx="4501787" cy="494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87624" y="6021288"/>
            <a:ext cx="4824536" cy="637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：模型评估与绘图展示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83" y="2965653"/>
            <a:ext cx="4762061" cy="265488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2952519"/>
            <a:ext cx="3405858" cy="26680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：模型评估与绘图展示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3371777"/>
            <a:ext cx="5415384" cy="21222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696" y="2823613"/>
            <a:ext cx="3875304" cy="32185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：模型评估与绘图展示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3270152"/>
            <a:ext cx="4390256" cy="2374729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3162575"/>
            <a:ext cx="3562397" cy="28587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：保存模型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715" y="2844727"/>
            <a:ext cx="4254500" cy="1054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4068936"/>
            <a:ext cx="53848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7605" y="2708910"/>
            <a:ext cx="3494405" cy="4062095"/>
          </a:xfrm>
          <a:prstGeom prst="rect">
            <a:avLst/>
          </a:prstGeom>
        </p:spPr>
      </p:pic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实验步骤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：推理结果可视化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959274" y="2984265"/>
            <a:ext cx="3096344" cy="2732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011505" y="3531727"/>
            <a:ext cx="3240360" cy="446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959274" y="4326618"/>
            <a:ext cx="4176464" cy="446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64" y="2996351"/>
            <a:ext cx="8238970" cy="33299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1065288"/>
          </a:xfrm>
        </p:spPr>
        <p:txBody>
          <a:bodyPr>
            <a:normAutofit/>
          </a:bodyPr>
          <a:lstStyle/>
          <a:p>
            <a:pPr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数据集、代码及实验报告模板下载链接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417638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+mn-ea"/>
              </a:rPr>
              <a:t>实验二：基于多层感知机的手写数字识别</a:t>
            </a:r>
            <a:endParaRPr lang="zh-CN" altLang="en-US" sz="36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27584" y="2204864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方式一：进入下列链接查看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5695" y="2708910"/>
            <a:ext cx="777176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altLang="zh-CN" sz="2400" dirty="0">
                <a:solidFill>
                  <a:srgbClr val="4F33F7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https://openi.pcl.ac.cn/example/ML-EXP-2-Classificatioin-MLP</a:t>
            </a:r>
            <a:endParaRPr lang="en-US" altLang="zh-CN" sz="2400" dirty="0">
              <a:solidFill>
                <a:srgbClr val="4F33F7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7584" y="3552647"/>
            <a:ext cx="7488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方式二：使用下列北航网盘链接</a:t>
            </a:r>
            <a:endParaRPr lang="en-US" altLang="zh-CN" sz="2400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15616" y="4036280"/>
            <a:ext cx="7776864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4F33F7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https://bhpan.buaa.edu.cn/link/AA20DF4E225F304E3FBEE9F632C6ECCAC1</a:t>
            </a:r>
            <a:endParaRPr lang="en-US" altLang="zh-CN" sz="2400" dirty="0">
              <a:solidFill>
                <a:srgbClr val="4F33F7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箭头: 右 15"/>
          <p:cNvSpPr/>
          <p:nvPr/>
        </p:nvSpPr>
        <p:spPr>
          <a:xfrm>
            <a:off x="4115588" y="5067257"/>
            <a:ext cx="978408" cy="1440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403960" y="4920930"/>
            <a:ext cx="27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实验一数据集和代码模板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2530" y="5551758"/>
            <a:ext cx="27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实验二数据集和代码模板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箭头: 右 19"/>
          <p:cNvSpPr/>
          <p:nvPr/>
        </p:nvSpPr>
        <p:spPr>
          <a:xfrm>
            <a:off x="4104158" y="5708629"/>
            <a:ext cx="978408" cy="1440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1853756" y="6197838"/>
            <a:ext cx="27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周实验报告模板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箭头: 右 21"/>
          <p:cNvSpPr/>
          <p:nvPr/>
        </p:nvSpPr>
        <p:spPr>
          <a:xfrm>
            <a:off x="4115588" y="6336401"/>
            <a:ext cx="978408" cy="14401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r="38920"/>
          <a:stretch>
            <a:fillRect/>
          </a:stretch>
        </p:blipFill>
        <p:spPr>
          <a:xfrm>
            <a:off x="5364480" y="4854575"/>
            <a:ext cx="3034030" cy="1819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1754</Words>
  <Application>WPS 演示</Application>
  <PresentationFormat>全屏显示(4:3)</PresentationFormat>
  <Paragraphs>215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华文中宋</vt:lpstr>
      <vt:lpstr>Times New Roman</vt:lpstr>
      <vt:lpstr>黑体</vt:lpstr>
      <vt:lpstr>微软雅黑</vt:lpstr>
      <vt:lpstr>Arial Unicode MS</vt:lpstr>
      <vt:lpstr>Calibri</vt:lpstr>
      <vt:lpstr>PMingLiU</vt:lpstr>
      <vt:lpstr>AMGDT</vt:lpstr>
      <vt:lpstr>Office 主题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  <vt:lpstr>实验二：基于多层感知机的手写数字识别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监督学习和非监督学习</dc:title>
  <dc:creator>Didier</dc:creator>
  <cp:lastModifiedBy>郑凯荠</cp:lastModifiedBy>
  <cp:revision>682</cp:revision>
  <dcterms:created xsi:type="dcterms:W3CDTF">2026-05-11T02:49:00Z</dcterms:created>
  <dcterms:modified xsi:type="dcterms:W3CDTF">2026-05-11T03:54:29Z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9F94C6252CF24FC7A2EBE1561C1F01A7_13</vt:lpwstr>
  </property>
  <property fmtid="{D5CDD505-2E9C-101B-9397-08002B2CF9AE}" pid="3" name="KSOProductBuildVer">
    <vt:lpwstr>2052-12.1.0.25225</vt:lpwstr>
  </property>
</Properties>
</file>