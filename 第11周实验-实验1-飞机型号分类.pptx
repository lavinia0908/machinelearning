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526" r:id="rId3"/>
    <p:sldId id="531" r:id="rId4"/>
    <p:sldId id="532" r:id="rId5"/>
    <p:sldId id="521" r:id="rId6"/>
    <p:sldId id="533" r:id="rId7"/>
    <p:sldId id="534" r:id="rId8"/>
    <p:sldId id="539" r:id="rId9"/>
    <p:sldId id="542" r:id="rId10"/>
    <p:sldId id="535" r:id="rId11"/>
    <p:sldId id="537" r:id="rId12"/>
    <p:sldId id="540" r:id="rId13"/>
    <p:sldId id="541" r:id="rId14"/>
    <p:sldId id="543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jiaxin" initials="c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33F7"/>
    <a:srgbClr val="200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33" autoAdjust="0"/>
    <p:restoredTop sz="74793" autoAdjust="0"/>
  </p:normalViewPr>
  <p:slideViewPr>
    <p:cSldViewPr showGuides="1">
      <p:cViewPr varScale="1">
        <p:scale>
          <a:sx n="63" d="100"/>
          <a:sy n="63" d="100"/>
        </p:scale>
        <p:origin x="2208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9B3A9-38F7-45CE-B594-745AE56270D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26611-436D-4C3B-B606-22CEA9914C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634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462654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2" name="Group 13"/>
          <p:cNvGrpSpPr/>
          <p:nvPr/>
        </p:nvGrpSpPr>
        <p:grpSpPr>
          <a:xfrm>
            <a:off x="0" y="1371600"/>
            <a:ext cx="9144000" cy="73152"/>
            <a:chOff x="0" y="3268345"/>
            <a:chExt cx="9144000" cy="146304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5181600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278880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7376160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7285" y="1412777"/>
            <a:ext cx="7990656" cy="2187674"/>
          </a:xfrm>
        </p:spPr>
        <p:txBody>
          <a:bodyPr>
            <a:normAutofit/>
          </a:bodyPr>
          <a:lstStyle/>
          <a:p>
            <a:r>
              <a:rPr lang="zh-CN" altLang="en-US" sz="54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实验一：飞机型号分类</a:t>
            </a:r>
            <a:endParaRPr lang="zh-CN" altLang="en-US" sz="31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2783160"/>
          </a:xfrm>
        </p:spPr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北京航空航天大学计算机学院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School of Computer Science and Engineering, </a:t>
            </a:r>
            <a:r>
              <a:rPr lang="en-US" altLang="zh-CN" sz="2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Beihang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University</a:t>
            </a:r>
          </a:p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黄 迪、张永飞、陈佳鑫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2026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春季学期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200" b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Spring 2026</a:t>
            </a:r>
            <a:endParaRPr lang="zh-CN" altLang="en-US" sz="22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70524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实验描述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5576" y="2127339"/>
            <a:ext cx="8172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飞机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型号识别是图像识别中的重要任务，广泛应用于目标识别、侦察预警等场景。本实验以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B2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与 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F35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两类机型的飞机图像数据为基础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，使用支持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向量机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(Support Vector Machine, 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SVM)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和决策树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(Decision Tree)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构建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基于图像的飞机型号分类模型。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15616" y="4437112"/>
            <a:ext cx="3888432" cy="23042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48064" y="4437112"/>
            <a:ext cx="3888432" cy="23042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此处添加</a:t>
            </a:r>
            <a:r>
              <a:rPr lang="en-US" altLang="zh-CN" sz="2800" dirty="0">
                <a:solidFill>
                  <a:srgbClr val="FF0000"/>
                </a:solidFill>
              </a:rPr>
              <a:t>F35</a:t>
            </a:r>
            <a:r>
              <a:rPr lang="zh-CN" altLang="en-US" sz="2800" dirty="0">
                <a:solidFill>
                  <a:srgbClr val="FF0000"/>
                </a:solidFill>
              </a:rPr>
              <a:t>飞机图像示例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15616" y="4066331"/>
            <a:ext cx="3888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B2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飞机图像示例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148064" y="4066331"/>
            <a:ext cx="3888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F35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飞机图像示例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432141"/>
            <a:ext cx="3879079" cy="230425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494" y="4447009"/>
            <a:ext cx="3877002" cy="2286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实验目的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576" y="2127339"/>
            <a:ext cx="82296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掌握支持向量机、决策树分类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模型的原理与实践方法。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深入理解分类模型在图像目标识别中的基本原理与实际应用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。掌握支持向量机和决策树模型的结构，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完成基于图像特征的分类模型构建、训练、评估与性能分析流程。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掌握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准确率、混淆矩阵等常用分类评价指标的含义与使用方法，巩固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Sklearn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Matplotlib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Seaborn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等工具库的使用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  <a:endParaRPr lang="zh-TW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实验任务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5576" y="2132856"/>
            <a:ext cx="8172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载入飞机图像数据集，进行图像缩放、展平、标准化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等预处理，并进行数据增强</a:t>
            </a:r>
            <a:endParaRPr lang="en-US" altLang="zh-CN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构建支持向量机分类模型，进行模型训练和评估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构建决策树分类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模型，进行模型训练和评估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输出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两种分类模型的分类准确率；可视化混淆矩阵，直观分析模型在各类别上的分类表现；可视化模型权重，展示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模型在图像上的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关注区域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  <a:endParaRPr lang="zh-TW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实验环境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9592" y="2056916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编程语言：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Python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开发环境：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Jupyter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Notebook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0" i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依赖库：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Pandas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Scikit-learn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Matplotlib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PIL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Seaborn</a:t>
            </a:r>
          </a:p>
        </p:txBody>
      </p:sp>
      <p:sp>
        <p:nvSpPr>
          <p:cNvPr id="7" name="內容版面配置區 2"/>
          <p:cNvSpPr txBox="1"/>
          <p:nvPr/>
        </p:nvSpPr>
        <p:spPr>
          <a:xfrm>
            <a:off x="457200" y="3204182"/>
            <a:ext cx="8229600" cy="610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实验原理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9592" y="3717032"/>
            <a:ext cx="80648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本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实验基于支持向量机和决策树模型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，完成基于图像的飞机型号分类任务。本实验将图像展平为高维向量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作为特征，通过支持向量机和决策树构建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图像特征到飞机型号类别的分类模型。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其中，支持向量机通过构建最优分类超平面实现分类，必要时可通过核函数提升非线性分类能力；决策树通过递归构建二叉树划分特征空间，由叶子节点的多数类别判定图像类别。</a:t>
            </a:r>
            <a:endParaRPr lang="en-US" altLang="zh-CN" sz="24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  <a:endParaRPr lang="zh-TW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7584" y="2204864"/>
            <a:ext cx="813690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：安装并导入必要依赖库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：加载数据集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SVM/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决策树模型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的构建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SVM/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决策树模型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训练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：模型测试与性能评估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：结果保存与可视化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：推理结果与可视化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：安装并导入必要依赖库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869372"/>
            <a:ext cx="4320480" cy="61023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547664" y="2869372"/>
            <a:ext cx="4464496" cy="610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93"/>
          <a:stretch>
            <a:fillRect/>
          </a:stretch>
        </p:blipFill>
        <p:spPr>
          <a:xfrm>
            <a:off x="611919" y="3682452"/>
            <a:ext cx="8084667" cy="16759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：数据增强与数据集加载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endParaRPr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919552"/>
            <a:ext cx="5349704" cy="195088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403648" y="3598047"/>
            <a:ext cx="4608512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00" y="2697306"/>
            <a:ext cx="5565728" cy="374383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634564" y="4058520"/>
            <a:ext cx="4608512" cy="522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98804" y="5523188"/>
            <a:ext cx="4608512" cy="917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634564" y="4945667"/>
            <a:ext cx="4608512" cy="355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SVM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模型的构建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7584" y="4277775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SVM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模型训练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011" y="4748699"/>
            <a:ext cx="2876550" cy="10572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E86FAA8-4272-3DE2-72DE-83995F66D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788163"/>
            <a:ext cx="4839119" cy="96782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27584" y="5153574"/>
            <a:ext cx="4680520" cy="6024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F8781B-99F9-2F4E-6FE1-C668124C79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685634"/>
            <a:ext cx="7376396" cy="167947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37128" y="3102046"/>
            <a:ext cx="2366720" cy="1263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896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：决策树模型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的构建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0320" y="4532991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：决策树模型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训练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79" y="2743553"/>
            <a:ext cx="6607113" cy="148602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194" y="5181565"/>
            <a:ext cx="4538599" cy="10161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：模型测试与性能评估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751898"/>
            <a:ext cx="5540220" cy="228619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5" y="5358384"/>
            <a:ext cx="5159001" cy="806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：结果保存与可视化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70" y="2697381"/>
            <a:ext cx="4371975" cy="17049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7" y="3068960"/>
            <a:ext cx="3776780" cy="32016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1368"/>
          <a:stretch>
            <a:fillRect/>
          </a:stretch>
        </p:blipFill>
        <p:spPr>
          <a:xfrm>
            <a:off x="4658359" y="2694591"/>
            <a:ext cx="4371975" cy="181452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7426" y="3104019"/>
            <a:ext cx="3790719" cy="33695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：推理结果可视化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49" y="2646882"/>
            <a:ext cx="6121301" cy="413043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835696" y="4005064"/>
            <a:ext cx="4896544" cy="1042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01" y="3088037"/>
            <a:ext cx="7992888" cy="32677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数据集、代码及实验报告模板下载链接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实验一：飞机型号分类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方式一：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git clone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下列链接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5616" y="2708920"/>
            <a:ext cx="748883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4F33F7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https://openi.pcl.ac.cn/example/ML-EXP-2-Classificatioin-MLP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27584" y="3552647"/>
            <a:ext cx="748883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方式二：使用下列北航网盘链接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15616" y="4036280"/>
            <a:ext cx="7776864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4F33F7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https://bhpan.buaa.edu.cn/link/AA20DF4E225F304E3FBEE9F632C6ECCAC1</a:t>
            </a:r>
          </a:p>
        </p:txBody>
      </p:sp>
      <p:sp>
        <p:nvSpPr>
          <p:cNvPr id="16" name="箭头: 右 15"/>
          <p:cNvSpPr/>
          <p:nvPr/>
        </p:nvSpPr>
        <p:spPr>
          <a:xfrm>
            <a:off x="4115588" y="5067257"/>
            <a:ext cx="978408" cy="14401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403960" y="4920930"/>
            <a:ext cx="27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实验一数据集和代码模板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92530" y="5551758"/>
            <a:ext cx="27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实验二数据集和代码模板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箭头: 右 19"/>
          <p:cNvSpPr/>
          <p:nvPr/>
        </p:nvSpPr>
        <p:spPr>
          <a:xfrm>
            <a:off x="4104158" y="5708629"/>
            <a:ext cx="978408" cy="14401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853756" y="6197838"/>
            <a:ext cx="27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周实验报告模板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箭头: 右 21"/>
          <p:cNvSpPr/>
          <p:nvPr/>
        </p:nvSpPr>
        <p:spPr>
          <a:xfrm>
            <a:off x="4115588" y="6336401"/>
            <a:ext cx="978408" cy="14401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38920"/>
          <a:stretch>
            <a:fillRect/>
          </a:stretch>
        </p:blipFill>
        <p:spPr>
          <a:xfrm>
            <a:off x="5364480" y="4854575"/>
            <a:ext cx="3034030" cy="1819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687</Words>
  <Application>Microsoft Office PowerPoint</Application>
  <PresentationFormat>全屏显示(4:3)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华文中宋</vt:lpstr>
      <vt:lpstr>Arial</vt:lpstr>
      <vt:lpstr>Calibri</vt:lpstr>
      <vt:lpstr>Times New Roman</vt:lpstr>
      <vt:lpstr>Wingdings</vt:lpstr>
      <vt:lpstr>Office 主题</vt:lpstr>
      <vt:lpstr>实验一：飞机型号分类</vt:lpstr>
      <vt:lpstr>实验一：飞机型号分类</vt:lpstr>
      <vt:lpstr>实验一：飞机型号分类</vt:lpstr>
      <vt:lpstr>实验一：飞机型号分类</vt:lpstr>
      <vt:lpstr>实验一：飞机型号分类</vt:lpstr>
      <vt:lpstr>实验一：飞机型号分类</vt:lpstr>
      <vt:lpstr>实验一：飞机型号分类</vt:lpstr>
      <vt:lpstr>实验一：飞机型号分类</vt:lpstr>
      <vt:lpstr>实验一：飞机型号分类</vt:lpstr>
      <vt:lpstr>实验一：飞机型号分类</vt:lpstr>
      <vt:lpstr>实验一：飞机型号分类</vt:lpstr>
      <vt:lpstr>实验一：飞机型号分类</vt:lpstr>
      <vt:lpstr>实验一：飞机型号分类</vt:lpstr>
      <vt:lpstr>实验一：飞机型号分类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监督学习和非监督学习</dc:title>
  <dc:creator>Didier</dc:creator>
  <cp:lastModifiedBy>凯荠 郑</cp:lastModifiedBy>
  <cp:revision>698</cp:revision>
  <dcterms:created xsi:type="dcterms:W3CDTF">2025-03-23T12:46:00Z</dcterms:created>
  <dcterms:modified xsi:type="dcterms:W3CDTF">2026-05-11T05:27:29Z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91E5F321514D431D8F69FEC9413C5E18_13</vt:lpwstr>
  </property>
  <property fmtid="{D5CDD505-2E9C-101B-9397-08002B2CF9AE}" pid="3" name="KSOProductBuildVer">
    <vt:lpwstr>2052-12.1.0.25225</vt:lpwstr>
  </property>
</Properties>
</file>